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9" r:id="rId4"/>
    <p:sldId id="273" r:id="rId6"/>
    <p:sldId id="295" r:id="rId7"/>
    <p:sldId id="296" r:id="rId8"/>
    <p:sldId id="297" r:id="rId9"/>
    <p:sldId id="275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262626"/>
    <a:srgbClr val="FFD966"/>
    <a:srgbClr val="7F7F7F"/>
    <a:srgbClr val="F8CE7C"/>
    <a:srgbClr val="D0B0A9"/>
    <a:srgbClr val="4C302A"/>
    <a:srgbClr val="B7A784"/>
    <a:srgbClr val="D2836E"/>
    <a:srgbClr val="B59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108" d="100"/>
          <a:sy n="108" d="100"/>
        </p:scale>
        <p:origin x="8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65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65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735" y="212090"/>
            <a:ext cx="11681460" cy="76073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           </a:t>
            </a:r>
            <a:r>
              <a:rPr lang="en-US" altLang="zh-CN" b="1">
                <a:solidFill>
                  <a:schemeClr val="tx1"/>
                </a:solidFill>
              </a:rPr>
              <a:t> Today I will present a simple analysis of a housing price dataset.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956935" y="3533827"/>
            <a:ext cx="224588" cy="224588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085683" y="3970525"/>
            <a:ext cx="2922749" cy="49911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en-US" sz="2800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SHANG  MA</a:t>
            </a:r>
            <a:endParaRPr lang="en-US" sz="2800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4465" y="2318385"/>
            <a:ext cx="10034905" cy="99187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60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Housing Price Analysis </a:t>
            </a:r>
            <a:endParaRPr lang="en-US" altLang="zh-CN" sz="60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/>
      <p:bldP spid="13" grpId="0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735" y="212090"/>
            <a:ext cx="11681460" cy="76073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64586" y="326289"/>
            <a:ext cx="465221" cy="465221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en-US" altLang="zh-CN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9365" y="205740"/>
            <a:ext cx="9342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Problem Background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49350" y="1583690"/>
            <a:ext cx="9735820" cy="3689985"/>
          </a:xfrm>
          <a:prstGeom prst="rect">
            <a:avLst/>
          </a:prstGeom>
        </p:spPr>
        <p:txBody>
          <a:bodyPr wrap="square" lIns="68580" tIns="34290" rIns="68580" bIns="34290">
            <a:noAutofit/>
          </a:bodyPr>
          <a:lstStyle/>
          <a:p>
            <a:pPr indent="0" fontAlgn="auto">
              <a:lnSpc>
                <a:spcPct val="150000"/>
              </a:lnSpc>
              <a:defRPr/>
            </a:pP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4060" y="1416685"/>
            <a:ext cx="10757535" cy="4609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/>
              <a:t>Housing prices are increasing rapidly</a:t>
            </a:r>
            <a:endParaRPr lang="en-US" altLang="zh-CN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/>
              <a:t>Buyers need accurate price estimation</a:t>
            </a:r>
            <a:endParaRPr lang="en-US" altLang="zh-CN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/>
              <a:t>We want to understand:</a:t>
            </a:r>
            <a:endParaRPr lang="en-US" altLang="zh-CN" sz="2800" b="1"/>
          </a:p>
          <a:p>
            <a:pPr indent="0">
              <a:buNone/>
            </a:pPr>
            <a:r>
              <a:rPr lang="en-US" altLang="zh-CN" sz="2800" b="1"/>
              <a:t>     What factors affect house prices?</a:t>
            </a:r>
            <a:endParaRPr lang="en-US" altLang="zh-CN" sz="28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indent="0">
              <a:buNone/>
            </a:pPr>
            <a:endParaRPr lang="en-US" altLang="zh-CN" sz="2800"/>
          </a:p>
          <a:p>
            <a:pPr indent="0">
              <a:buNone/>
            </a:pPr>
            <a:endParaRPr lang="en-US" altLang="zh-CN" sz="2800"/>
          </a:p>
          <a:p>
            <a:pPr indent="0">
              <a:buNone/>
            </a:pPr>
            <a:r>
              <a:rPr lang="en-US" altLang="zh-CN" sz="2800"/>
              <a:t>In real life, house prices are affected by many factors.</a:t>
            </a:r>
            <a:endParaRPr lang="en-US" altLang="zh-CN" sz="2800"/>
          </a:p>
          <a:p>
            <a:pPr indent="0">
              <a:buNone/>
            </a:pPr>
            <a:r>
              <a:rPr lang="en-US" altLang="zh-CN" sz="2800"/>
              <a:t>In this project, we try to understand what influences house prices.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735" y="212090"/>
            <a:ext cx="11681460" cy="76073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64586" y="326289"/>
            <a:ext cx="465221" cy="465221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en-US" altLang="zh-CN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9365" y="205740"/>
            <a:ext cx="6995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Dataset Overview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37091" y="190429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672000" y="5467297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8805" y="3874135"/>
            <a:ext cx="11484610" cy="2788285"/>
          </a:xfrm>
          <a:prstGeom prst="rect">
            <a:avLst/>
          </a:prstGeom>
        </p:spPr>
        <p:txBody>
          <a:bodyPr wrap="square" lIns="68580" tIns="34290" rIns="68580" bIns="34290">
            <a:noAutofit/>
          </a:bodyPr>
          <a:lstStyle/>
          <a:p>
            <a:pPr indent="0" fontAlgn="auto">
              <a:lnSpc>
                <a:spcPct val="150000"/>
              </a:lnSpc>
              <a:defRPr/>
            </a:pPr>
            <a:endParaRPr lang="en-US" altLang="zh-CN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8805" y="1255395"/>
            <a:ext cx="10205720" cy="3313430"/>
          </a:xfrm>
          <a:prstGeom prst="rect">
            <a:avLst/>
          </a:prstGeom>
        </p:spPr>
        <p:txBody>
          <a:bodyPr wrap="square" lIns="68580" tIns="34290" rIns="68580" bIns="3429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Source: Kaggle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Features: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indent="0" fontAlgn="auto">
              <a:lnSpc>
                <a:spcPct val="150000"/>
              </a:lnSpc>
              <a:buNone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Area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indent="0" fontAlgn="auto">
              <a:lnSpc>
                <a:spcPct val="150000"/>
              </a:lnSpc>
              <a:buNone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Bedrooms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indent="0" fontAlgn="auto">
              <a:lnSpc>
                <a:spcPct val="150000"/>
              </a:lnSpc>
              <a:buNone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Bathrooms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indent="0" fontAlgn="auto">
              <a:lnSpc>
                <a:spcPct val="150000"/>
              </a:lnSpc>
              <a:buNone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  Location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761865"/>
            <a:ext cx="12192000" cy="10134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27850" y="1576070"/>
            <a:ext cx="4570095" cy="2606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This dataset contains information about houses.</a:t>
            </a:r>
            <a:endParaRPr lang="en-US" altLang="zh-CN" sz="2800"/>
          </a:p>
          <a:p>
            <a:r>
              <a:rPr lang="en-US" altLang="zh-CN" sz="2800"/>
              <a:t>Each row represents one house with features like area and bedrooms.</a:t>
            </a:r>
            <a:endParaRPr lang="en-US" altLang="zh-CN" sz="2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/>
      <p:bldP spid="14" grpId="0" bldLvl="0" animBg="1"/>
      <p:bldP spid="15" grpId="0" bldLvl="0" animBg="1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735" y="212090"/>
            <a:ext cx="11681460" cy="76073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64586" y="326289"/>
            <a:ext cx="465221" cy="465221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en-US" altLang="zh-CN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9365" y="205740"/>
            <a:ext cx="6995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Key Findings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37091" y="190429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672000" y="5467297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104900"/>
            <a:ext cx="5257800" cy="3474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765" y="1112520"/>
            <a:ext cx="5128260" cy="3467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2735" y="4772025"/>
            <a:ext cx="60960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/>
              <a:t>Larger area </a:t>
            </a:r>
            <a:r>
              <a:rPr lang="en-US" altLang="en-US" sz="2400" b="1"/>
              <a:t>→</a:t>
            </a:r>
            <a:r>
              <a:rPr lang="en-US" altLang="zh-CN" sz="2400" b="1"/>
              <a:t> higher price</a:t>
            </a:r>
            <a:endParaRPr lang="en-US" altLang="zh-CN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/>
              <a:t>More bedrooms </a:t>
            </a:r>
            <a:r>
              <a:rPr lang="en-US" altLang="en-US" sz="2400" b="1"/>
              <a:t>→</a:t>
            </a:r>
            <a:r>
              <a:rPr lang="en-US" altLang="zh-CN" sz="2400" b="1"/>
              <a:t> higher price</a:t>
            </a:r>
            <a:endParaRPr lang="en-US" altLang="zh-CN" sz="2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/>
              <a:t>Preferred area houses are more expensive</a:t>
            </a:r>
            <a:endParaRPr lang="en-US" altLang="zh-CN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5340985" y="493712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From the analysis, we can see that area has a strong relationship with price.</a:t>
            </a:r>
            <a:endParaRPr lang="en-US" altLang="zh-CN"/>
          </a:p>
          <a:p>
            <a:r>
              <a:rPr lang="en-US" altLang="zh-CN"/>
              <a:t>Houses with larger area tend to have higher prices.</a:t>
            </a:r>
            <a:endParaRPr lang="en-US" altLang="zh-CN"/>
          </a:p>
          <a:p>
            <a:r>
              <a:rPr lang="en-US" altLang="zh-CN"/>
              <a:t>Also, houses in preferred areas are more expensive.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/>
      <p:bldP spid="14" grpId="0" bldLvl="0" animBg="1"/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735" y="212090"/>
            <a:ext cx="11681460" cy="76073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64586" y="326289"/>
            <a:ext cx="465221" cy="465221"/>
          </a:xfrm>
          <a:prstGeom prst="ellips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4</a:t>
            </a:r>
            <a:endParaRPr lang="en-US" altLang="zh-CN" sz="3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9821300" y="3624585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69365" y="205740"/>
            <a:ext cx="6995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Conclusion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737091" y="190429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2672000" y="5467297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9585" y="1410335"/>
            <a:ext cx="11484610" cy="3558540"/>
          </a:xfrm>
          <a:prstGeom prst="rect">
            <a:avLst/>
          </a:prstGeom>
        </p:spPr>
        <p:txBody>
          <a:bodyPr wrap="square" lIns="68580" tIns="34290" rIns="68580" bIns="34290">
            <a:no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House price depends on multiple factors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Area and location are key factors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spc="225" dirty="0">
                <a:solidFill>
                  <a:srgbClr val="292929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This data can help predict house prices</a:t>
            </a:r>
            <a:endParaRPr lang="en-US" altLang="zh-CN" sz="2400" b="1" spc="225" dirty="0">
              <a:solidFill>
                <a:srgbClr val="292929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8020" y="3585210"/>
            <a:ext cx="1057275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In conclusion, house prices are not random.</a:t>
            </a:r>
            <a:endParaRPr lang="en-US" altLang="zh-CN" sz="2800"/>
          </a:p>
          <a:p>
            <a:r>
              <a:rPr lang="en-US" altLang="zh-CN" sz="2800"/>
              <a:t>They are influenced by factors like area and location.</a:t>
            </a:r>
            <a:endParaRPr lang="en-US" altLang="zh-CN" sz="2800"/>
          </a:p>
          <a:p>
            <a:r>
              <a:rPr lang="en-US" altLang="zh-CN" sz="2800"/>
              <a:t>This dataset can be used for price prediction.</a:t>
            </a:r>
            <a:endParaRPr lang="en-US" altLang="zh-CN" sz="2800"/>
          </a:p>
        </p:txBody>
      </p:sp>
      <p:sp>
        <p:nvSpPr>
          <p:cNvPr id="7" name="文本框 6"/>
          <p:cNvSpPr txBox="1"/>
          <p:nvPr/>
        </p:nvSpPr>
        <p:spPr>
          <a:xfrm>
            <a:off x="668020" y="5588000"/>
            <a:ext cx="112141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This is a regression problem because we are predicting a continuous value.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8" grpId="0"/>
      <p:bldP spid="14" grpId="0" bldLvl="0" animBg="1"/>
      <p:bldP spid="15" grpId="0" bldLvl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465221" y="417094"/>
            <a:ext cx="465221" cy="465221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956935" y="3533827"/>
            <a:ext cx="224588" cy="224588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06189" y="2792067"/>
            <a:ext cx="6166377" cy="122237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7500" b="1" spc="225" dirty="0">
                <a:solidFill>
                  <a:srgbClr val="292929"/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+mn-ea"/>
                <a:sym typeface="+mn-lt"/>
              </a:rPr>
              <a:t>Thank You</a:t>
            </a:r>
            <a:endParaRPr lang="en-US" altLang="zh-CN" sz="7500" b="1" spc="225" dirty="0">
              <a:solidFill>
                <a:srgbClr val="292929"/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/>
      <p:bldP spid="16" grpId="0" animBg="1"/>
    </p:bldLst>
  </p:timing>
</p:sld>
</file>

<file path=ppt/tags/tag1.xml><?xml version="1.0" encoding="utf-8"?>
<p:tagLst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宽屏</PresentationFormat>
  <Paragraphs>63</Paragraphs>
  <Slides>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字魂58号-创中黑</vt:lpstr>
      <vt:lpstr>微软雅黑</vt:lpstr>
      <vt:lpstr>黑体</vt:lpstr>
      <vt:lpstr>字魂59号-创粗黑</vt:lpstr>
      <vt:lpstr>Arial Unicode MS</vt:lpstr>
      <vt:lpstr>等线 Light</vt:lpstr>
      <vt:lpstr>等线</vt:lpstr>
      <vt:lpstr>Calibri</vt:lpstr>
      <vt:lpstr>字魂58号-创中黑</vt:lpstr>
      <vt:lpstr>字魂59号-创粗黑</vt:lpstr>
      <vt:lpstr>字魂创中黑</vt:lpstr>
      <vt:lpstr>字魂创粗黑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棕色眼睛的猫</cp:lastModifiedBy>
  <cp:revision>67</cp:revision>
  <dcterms:created xsi:type="dcterms:W3CDTF">2019-06-11T09:29:00Z</dcterms:created>
  <dcterms:modified xsi:type="dcterms:W3CDTF">2026-04-18T21:14:59Z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36C20D5138F64A8C93CADAF69C06CF04_12</vt:lpwstr>
  </property>
</Properties>
</file>